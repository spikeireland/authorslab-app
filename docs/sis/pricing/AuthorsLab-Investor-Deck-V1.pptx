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C2C2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2C2C2A"/>
                </a:solidFill>
                <a:latin typeface="Calibri"/>
              </a:rPr>
              <a:t>Modelled MRR, months 1–36 (assumption-based funnel)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MRR (£)</c:v>
                </c:pt>
              </c:strCache>
            </c:strRef>
          </c:tx>
          <c:spPr>
            <a:solidFill>
              <a:srgbClr val="5C7A6B"/>
            </a:solidFill>
            <a:ln w="38100" cap="flat">
              <a:solidFill>
                <a:srgbClr val="5C7A6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C7A6B"/>
              </a:solidFill>
              <a:ln w="9525" cap="flat">
                <a:solidFill>
                  <a:srgbClr val="5C7A6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Sheet1!$A$2:$A$37</c:f>
              <c:multiLvlStrCache>
                <c:ptCount val="36"/>
                <c:lvl>
                  <c:pt idx="0">
                    <c:v/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>M6</c:v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>M12</c:v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>M18</c:v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>M24</c:v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>M30</c:v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>M36</c:v>
                  </c:pt>
                </c:lvl>
              </c:multiLvlStrCache>
            </c:multiLvlStrRef>
          </c:cat>
          <c:val>
            <c:numRef>
              <c:f>Sheet1!$B$2:$B$37</c:f>
              <c:numCache>
                <c:formatCode>General</c:formatCode>
                <c:ptCount val="36"/>
                <c:pt idx="0">
                  <c:v>230</c:v>
                </c:pt>
                <c:pt idx="1">
                  <c:v>363</c:v>
                </c:pt>
                <c:pt idx="2">
                  <c:v>1003</c:v>
                </c:pt>
                <c:pt idx="3">
                  <c:v>1146</c:v>
                </c:pt>
                <c:pt idx="4">
                  <c:v>1299</c:v>
                </c:pt>
                <c:pt idx="5">
                  <c:v>1484</c:v>
                </c:pt>
                <c:pt idx="6">
                  <c:v>1683</c:v>
                </c:pt>
                <c:pt idx="7">
                  <c:v>1897</c:v>
                </c:pt>
                <c:pt idx="8">
                  <c:v>2128</c:v>
                </c:pt>
                <c:pt idx="9">
                  <c:v>2408</c:v>
                </c:pt>
                <c:pt idx="10">
                  <c:v>2711</c:v>
                </c:pt>
                <c:pt idx="11">
                  <c:v>3039</c:v>
                </c:pt>
                <c:pt idx="12">
                  <c:v>3395</c:v>
                </c:pt>
                <c:pt idx="13">
                  <c:v>3782</c:v>
                </c:pt>
                <c:pt idx="14">
                  <c:v>4204</c:v>
                </c:pt>
                <c:pt idx="15">
                  <c:v>4663</c:v>
                </c:pt>
                <c:pt idx="16">
                  <c:v>5165</c:v>
                </c:pt>
                <c:pt idx="17">
                  <c:v>5714</c:v>
                </c:pt>
                <c:pt idx="18">
                  <c:v>6314</c:v>
                </c:pt>
                <c:pt idx="19">
                  <c:v>6972</c:v>
                </c:pt>
                <c:pt idx="20">
                  <c:v>7692</c:v>
                </c:pt>
                <c:pt idx="21">
                  <c:v>8481</c:v>
                </c:pt>
                <c:pt idx="22">
                  <c:v>9346</c:v>
                </c:pt>
                <c:pt idx="23">
                  <c:v>10296</c:v>
                </c:pt>
                <c:pt idx="24">
                  <c:v>11338</c:v>
                </c:pt>
                <c:pt idx="25">
                  <c:v>12483</c:v>
                </c:pt>
                <c:pt idx="26">
                  <c:v>13740</c:v>
                </c:pt>
                <c:pt idx="27">
                  <c:v>15120</c:v>
                </c:pt>
                <c:pt idx="28">
                  <c:v>16637</c:v>
                </c:pt>
                <c:pt idx="29">
                  <c:v>18304</c:v>
                </c:pt>
                <c:pt idx="30">
                  <c:v>20136</c:v>
                </c:pt>
                <c:pt idx="31">
                  <c:v>22150</c:v>
                </c:pt>
                <c:pt idx="32">
                  <c:v>24364</c:v>
                </c:pt>
                <c:pt idx="33">
                  <c:v>26797</c:v>
                </c:pt>
                <c:pt idx="34">
                  <c:v>29473</c:v>
                </c:pt>
                <c:pt idx="35">
                  <c:v>32416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4E0D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E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0D8"/>
              </a:solidFill>
              <a:prstDash val="solid"/>
              <a:round/>
            </a:ln>
          </c:spPr>
        </c:majorGridlines>
        <c:numFmt formatCode="£#,##0" sourceLinked="0"/>
        <c:majorTickMark val="out"/>
        <c:minorTickMark val="none"/>
        <c:tickLblPos val="nextTo"/>
        <c:spPr>
          <a:ln w="12700" cap="flat">
            <a:solidFill>
              <a:srgbClr val="E4E0D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E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2C2C2A"/>
                </a:solidFill>
                <a:latin typeface="Calibri"/>
              </a:defRPr>
            </a:pPr>
            <a:r>
              <a:rPr sz="1150" b="0" i="0" u="none" strike="noStrike">
                <a:solidFill>
                  <a:srgbClr val="2C2C2A"/>
                </a:solidFill>
                <a:latin typeface="Calibri"/>
              </a:rPr>
              <a:t>£406k plan = £350k raise + £56k modelled gross profit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 of funds (£k)</c:v>
                </c:pt>
              </c:strCache>
            </c:strRef>
          </c:tx>
          <c:spPr>
            <a:solidFill>
              <a:srgbClr val="5C7A6B">
                <a:alpha val="100000"/>
              </a:srgbClr>
            </a:solidFill>
            <a:effectLst/>
          </c:spPr>
          <c:invertIfNegative val="0"/>
          <c:dLbls>
            <c:numFmt formatCode="£#,##0&quot;k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C2C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C7A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FAF8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4956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9C5B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Team &amp; operations</c:v>
                  </c:pt>
                  <c:pt idx="1">
                    <c:v>Marketing ramp</c:v>
                  </c:pt>
                  <c:pt idx="2">
                    <c:v>Product development</c:v>
                  </c:pt>
                  <c:pt idx="3">
                    <c:v>Contingency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162</c:v>
                </c:pt>
                <c:pt idx="1">
                  <c:v>111</c:v>
                </c:pt>
                <c:pt idx="2">
                  <c:v>72</c:v>
                </c:pt>
                <c:pt idx="3">
                  <c:v>61</c:v>
                </c:pt>
              </c:numCache>
            </c:numRef>
          </c:val>
        </c:ser>
        <c:dLbls>
          <c:numFmt formatCode="£#,##0&quot;k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2C2C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4E0D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C2C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AuthorsLab: subscription platform of named AI editors. Raising £350k pre-seed (SEIS/EIS) for 18 months: launch, prove acquisition channels, ship the product line, land first imprint.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Close. Contact details placeholder — swap for AuthorsLab business email before sending.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2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01768" y="1051560"/>
            <a:ext cx="685800" cy="685800"/>
          </a:xfrm>
          <a:prstGeom prst="ellipse">
            <a:avLst/>
          </a:prstGeom>
          <a:solidFill>
            <a:srgbClr val="8FAF8A"/>
          </a:solidFill>
          <a:ln/>
        </p:spPr>
      </p:sp>
      <p:sp>
        <p:nvSpPr>
          <p:cNvPr id="3" name="Text 1"/>
          <p:cNvSpPr/>
          <p:nvPr/>
        </p:nvSpPr>
        <p:spPr>
          <a:xfrm>
            <a:off x="5001768" y="1051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870448" y="1051560"/>
            <a:ext cx="685800" cy="685800"/>
          </a:xfrm>
          <a:prstGeom prst="ellipse">
            <a:avLst/>
          </a:prstGeom>
          <a:solidFill>
            <a:srgbClr val="5C7A6B"/>
          </a:solidFill>
          <a:ln/>
        </p:spPr>
      </p:sp>
      <p:sp>
        <p:nvSpPr>
          <p:cNvPr id="5" name="Text 3"/>
          <p:cNvSpPr/>
          <p:nvPr/>
        </p:nvSpPr>
        <p:spPr>
          <a:xfrm>
            <a:off x="5870448" y="1051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739128" y="1051560"/>
            <a:ext cx="685800" cy="685800"/>
          </a:xfrm>
          <a:prstGeom prst="ellipse">
            <a:avLst/>
          </a:prstGeom>
          <a:solidFill>
            <a:srgbClr val="D4956A"/>
          </a:solidFill>
          <a:ln/>
        </p:spPr>
      </p:sp>
      <p:sp>
        <p:nvSpPr>
          <p:cNvPr id="7" name="Text 5"/>
          <p:cNvSpPr/>
          <p:nvPr/>
        </p:nvSpPr>
        <p:spPr>
          <a:xfrm>
            <a:off x="6739128" y="1051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214884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AF8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AuthorsLab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914400" y="329184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8FAF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author deserves an editorial team.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011680" y="3977640"/>
            <a:ext cx="8165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8D5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editors that carry a manuscript from upload to polished, publishable book — for the price of a paperback a month.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525780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· £350,000 · August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Finishing a book is cheap. Publishing it well costs thousands.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6616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8288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$2,000–$10,000+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cost of professional editing for one manuscript (verified market pricing, 2026)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70832" y="1554480"/>
            <a:ext cx="356616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99432" y="18288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C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£7,000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99432" y="278892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annual income of a UK professional author — down 38% in real terms since 2018 (ALCS)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93024" y="1554480"/>
            <a:ext cx="356616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421624" y="18288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FAF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44%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421624" y="278892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surveyed indie authors earn under $100/month from their books — yet committed indies out-earn traditionally published peers (ALLi)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1206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C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people with the most books in them can least afford the editorial team that traditional publishing takes for granted.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AuthorsLab · Pre-seed 2026 · Confidential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named editorial team, on subscription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868680" cy="868680"/>
          </a:xfrm>
          <a:prstGeom prst="ellipse">
            <a:avLst/>
          </a:prstGeom>
          <a:solidFill>
            <a:srgbClr val="8FAF8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737360" y="143560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Alex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737360" y="184708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Developmental editor — structure, pacing, character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587752"/>
            <a:ext cx="868680" cy="868680"/>
          </a:xfrm>
          <a:prstGeom prst="ellipse">
            <a:avLst/>
          </a:prstGeom>
          <a:solidFill>
            <a:srgbClr val="5C7A6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87752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737360" y="26060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37360" y="30175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editor — voice, rhythm, clarity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758184"/>
            <a:ext cx="868680" cy="868680"/>
          </a:xfrm>
          <a:prstGeom prst="ellipse">
            <a:avLst/>
          </a:prstGeom>
          <a:solidFill>
            <a:srgbClr val="D4956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758184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737360" y="377647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Jordan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737360" y="418795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editor — grammar, consistency, polish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502920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 launch
</a:t>
            </a:r>
            <a:pPr indent="0" marL="0">
              <a:buNone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your manuscript. Work chapter by chapter with all three editors. Download the polished result. A dashboard holds every project.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92240" y="1417320"/>
            <a:ext cx="512064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1645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the rest of the journey, releasing in stages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812280" y="2194560"/>
            <a:ext cx="457200" cy="457200"/>
          </a:xfrm>
          <a:prstGeom prst="ellipse">
            <a:avLst/>
          </a:prstGeom>
          <a:solidFill>
            <a:srgbClr val="FAF8F4"/>
          </a:solidFill>
          <a:ln/>
        </p:spPr>
      </p:sp>
      <p:sp>
        <p:nvSpPr>
          <p:cNvPr id="19" name="Text 17"/>
          <p:cNvSpPr/>
          <p:nvPr/>
        </p:nvSpPr>
        <p:spPr>
          <a:xfrm>
            <a:off x="681228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52360" y="2176272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Wright — </a:t>
            </a:r>
            <a:pPr indent="0" marL="0">
              <a:buNone/>
            </a:pPr>
            <a:r>
              <a:rPr lang="en-US" sz="1200" dirty="0">
                <a:solidFill>
                  <a:srgbClr val="6E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 collaborator for the book still in your head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12280" y="2944368"/>
            <a:ext cx="457200" cy="457200"/>
          </a:xfrm>
          <a:prstGeom prst="ellipse">
            <a:avLst/>
          </a:prstGeom>
          <a:solidFill>
            <a:srgbClr val="FAF8F4"/>
          </a:solidFill>
          <a:ln/>
        </p:spPr>
      </p:sp>
      <p:sp>
        <p:nvSpPr>
          <p:cNvPr id="22" name="Text 20"/>
          <p:cNvSpPr/>
          <p:nvPr/>
        </p:nvSpPr>
        <p:spPr>
          <a:xfrm>
            <a:off x="6812280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52360" y="292608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Taylor — Design — </a:t>
            </a:r>
            <a:pPr indent="0" marL="0">
              <a:buNone/>
            </a:pPr>
            <a:r>
              <a:rPr lang="en-US" sz="1200" dirty="0">
                <a:solidFill>
                  <a:srgbClr val="6E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art generation and a full cover composer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12280" y="3694176"/>
            <a:ext cx="457200" cy="457200"/>
          </a:xfrm>
          <a:prstGeom prst="ellipse">
            <a:avLst/>
          </a:prstGeom>
          <a:solidFill>
            <a:srgbClr val="FAF8F4"/>
          </a:solidFill>
          <a:ln/>
        </p:spPr>
      </p:sp>
      <p:sp>
        <p:nvSpPr>
          <p:cNvPr id="25" name="Text 23"/>
          <p:cNvSpPr/>
          <p:nvPr/>
        </p:nvSpPr>
        <p:spPr>
          <a:xfrm>
            <a:off x="6812280" y="3694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452360" y="367588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Hub — </a:t>
            </a:r>
            <a:pPr indent="0" marL="0">
              <a:buNone/>
            </a:pPr>
            <a:r>
              <a:rPr lang="en-US" sz="1200" dirty="0">
                <a:solidFill>
                  <a:srgbClr val="6E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formats, metadata, publish-ready files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812280" y="4443984"/>
            <a:ext cx="457200" cy="457200"/>
          </a:xfrm>
          <a:prstGeom prst="ellipse">
            <a:avLst/>
          </a:prstGeom>
          <a:solidFill>
            <a:srgbClr val="FAF8F4"/>
          </a:solidFill>
          <a:ln/>
        </p:spPr>
      </p:sp>
      <p:sp>
        <p:nvSpPr>
          <p:cNvPr id="28" name="Text 26"/>
          <p:cNvSpPr/>
          <p:nvPr/>
        </p:nvSpPr>
        <p:spPr>
          <a:xfrm>
            <a:off x="6812280" y="4443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452360" y="4425696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 — Marketing Hub — </a:t>
            </a:r>
            <a:pPr indent="0" marL="0">
              <a:buNone/>
            </a:pPr>
            <a:r>
              <a:rPr lang="en-US" sz="1200" dirty="0">
                <a:solidFill>
                  <a:srgbClr val="6E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planning and campaign copy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812280" y="5193792"/>
            <a:ext cx="457200" cy="457200"/>
          </a:xfrm>
          <a:prstGeom prst="ellipse">
            <a:avLst/>
          </a:prstGeom>
          <a:solidFill>
            <a:srgbClr val="FAF8F4"/>
          </a:solidFill>
          <a:ln/>
        </p:spPr>
      </p:sp>
      <p:sp>
        <p:nvSpPr>
          <p:cNvPr id="31" name="Text 29"/>
          <p:cNvSpPr/>
          <p:nvPr/>
        </p:nvSpPr>
        <p:spPr>
          <a:xfrm>
            <a:off x="6812280" y="5193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452360" y="5175504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Riley — </a:t>
            </a:r>
            <a:pPr indent="0" marL="0">
              <a:buNone/>
            </a:pPr>
            <a:r>
              <a:rPr lang="en-US" sz="1200" dirty="0">
                <a:solidFill>
                  <a:srgbClr val="6E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companion who remembers your whole journey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AuthorsLab · Pre-seed 2026 · Confidential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Upload. Edit. Download.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965960" y="1463040"/>
            <a:ext cx="731520" cy="731520"/>
          </a:xfrm>
          <a:prstGeom prst="ellipse">
            <a:avLst/>
          </a:prstGeom>
          <a:solidFill>
            <a:srgbClr val="8FAF8A"/>
          </a:solidFill>
          <a:ln/>
        </p:spPr>
      </p:sp>
      <p:sp>
        <p:nvSpPr>
          <p:cNvPr id="4" name="Text 2"/>
          <p:cNvSpPr/>
          <p:nvPr/>
        </p:nvSpPr>
        <p:spPr>
          <a:xfrm>
            <a:off x="196596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Upload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full-manuscript assessment by Alex — no card required. The manuscript is parsed into chapters, the author sees exactly what the editors see.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77640" y="15544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E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788152" y="1463040"/>
            <a:ext cx="731520" cy="731520"/>
          </a:xfrm>
          <a:prstGeom prst="ellipse">
            <a:avLst/>
          </a:prstGeom>
          <a:solidFill>
            <a:srgbClr val="5C7A6B"/>
          </a:solidFill>
          <a:ln/>
        </p:spPr>
      </p:sp>
      <p:sp>
        <p:nvSpPr>
          <p:cNvPr id="9" name="Text 7"/>
          <p:cNvSpPr/>
          <p:nvPr/>
        </p:nvSpPr>
        <p:spPr>
          <a:xfrm>
            <a:off x="5788152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370832" y="23774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Edit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53712" y="292608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Full-manuscript editorial passes through the three-editor team, metered by plan. Every AI call is logged with tokens and cost — the author sees progress, we see unit economics.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99832" y="15544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E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9610344" y="1463040"/>
            <a:ext cx="731520" cy="731520"/>
          </a:xfrm>
          <a:prstGeom prst="ellipse">
            <a:avLst/>
          </a:prstGeom>
          <a:solidFill>
            <a:srgbClr val="D4956A"/>
          </a:solidFill>
          <a:ln/>
        </p:spPr>
      </p:sp>
      <p:sp>
        <p:nvSpPr>
          <p:cNvPr id="14" name="Text 12"/>
          <p:cNvSpPr/>
          <p:nvPr/>
        </p:nvSpPr>
        <p:spPr>
          <a:xfrm>
            <a:off x="9610344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193024" y="23774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Download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375904" y="292608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polished, publishable manuscript. Every version preserved. The dashboard carries as many projects as the plan allows.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C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analysis is the funnel. The product is the journey.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AuthorsLab · Pre-seed 2026 · Confidential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Committed authors already spend — on a stack of partial tools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Panel-verified market research, 25 sources, July 2026: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745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$34/mo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017520" y="18745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committed indie pays today to replicate our scope: Sudowrite Pro + Scrivener + ProWritingAid — three tools, none covering the journey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169164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8745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$636/mo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686800" y="18745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indie marketing spend (self-reported; ~$81/mo even among sub-$100 earners)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8862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FAF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$250–$1,999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017520" y="38862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book, editing spend by successful indies ($10k+/mo earners)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370332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38862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£600/mo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686800" y="38862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small UK imprints pay Consonance for editorial SaaS — our separate B2B axis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market is bimodal: price the commitment, not the average. Our tiers are built for exactly that.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AuthorsLab · Pre-seed 2026 · Confidential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Tiers are capacity, not features — live on Stripe today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834640" cy="32461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6459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" y="2148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£7/mo</a:t>
            </a:r>
            <a:pPr indent="0" marL="0">
              <a:buNone/>
            </a:pPr>
            <a:r>
              <a:rPr lang="en-US" sz="1000" dirty="0">
                <a:solidFill>
                  <a:srgbClr val="6E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billed annually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2743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£10/mo billed monthly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32461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editorial pass / month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active project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11880" y="1417320"/>
            <a:ext cx="2834640" cy="3246120"/>
          </a:xfrm>
          <a:prstGeom prst="roundRect">
            <a:avLst>
              <a:gd name="adj" fmla="val 2581"/>
            </a:avLst>
          </a:prstGeom>
          <a:solidFill>
            <a:srgbClr val="8FAF8A"/>
          </a:solidFill>
          <a:ln w="25400">
            <a:solidFill>
              <a:srgbClr val="5C7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16459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Author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840480" y="2148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£13/mo</a:t>
            </a:r>
            <a:pPr indent="0" marL="0">
              <a:buNone/>
            </a:pPr>
            <a:r>
              <a:rPr lang="en-US" sz="1000" dirty="0">
                <a:solidFill>
                  <a:srgbClr val="EA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billed annually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840480" y="2743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£19/mo billed monthly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0" y="32461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editorial passes / month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projects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0" y="1417320"/>
            <a:ext cx="2834640" cy="32461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03720" y="16459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903720" y="2148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£27/mo</a:t>
            </a:r>
            <a:pPr indent="0" marL="0">
              <a:buNone/>
            </a:pPr>
            <a:r>
              <a:rPr lang="en-US" sz="1000" dirty="0">
                <a:solidFill>
                  <a:srgbClr val="6E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billed annually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903720" y="2743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£39/mo billed monthly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903720" y="32461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editorial passes / month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projects + priority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921240" y="1417320"/>
            <a:ext cx="1737360" cy="3246120"/>
          </a:xfrm>
          <a:prstGeom prst="roundRect">
            <a:avLst>
              <a:gd name="adj" fmla="val 4211"/>
            </a:avLst>
          </a:prstGeom>
          <a:solidFill>
            <a:srgbClr val="2C2C2A"/>
          </a:solidFill>
          <a:ln/>
        </p:spPr>
      </p:sp>
      <p:sp>
        <p:nvSpPr>
          <p:cNvPr id="19" name="Text 17"/>
          <p:cNvSpPr/>
          <p:nvPr/>
        </p:nvSpPr>
        <p:spPr>
          <a:xfrm>
            <a:off x="10012680" y="1645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£119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058400" y="214884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D5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single-project pass — credits toward membership within 90 days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058400" y="365760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FA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Imprint SKU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8FA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£250–£1,000/mo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493776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feature gating — every author gets the whole team (the pattern that wins in this market: Sudowrite, not gated suites).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product release lands inside existing tiers; new-customer prices step up while early subscribers keep their price for life.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beta authors grandfathered as Founding Authors at £9.50/mo — loyalty engineered in before launch.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AuthorsLab · Pre-seed 2026 · Confidential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C2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8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meter our COGS per AI call. Most pre-seeds guess.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5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LLM call across the platform routes through one cell and writes to a ledger: station, model, tokens, latency, cost — per author, per manuscript.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5394960" cy="1645920"/>
          </a:xfrm>
          <a:prstGeom prst="roundRect">
            <a:avLst>
              <a:gd name="adj" fmla="val 4444"/>
            </a:avLst>
          </a:prstGeom>
          <a:solidFill>
            <a:srgbClr val="38383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1343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AF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Pricing calibrated to measured cost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770632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D5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allowances per tier are sized from instrument readings, not estimates — targeted ≥70% flagship gross margin.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2148840"/>
            <a:ext cx="5394960" cy="1645920"/>
          </a:xfrm>
          <a:prstGeom prst="roundRect">
            <a:avLst>
              <a:gd name="adj" fmla="val 4444"/>
            </a:avLst>
          </a:prstGeom>
          <a:solidFill>
            <a:srgbClr val="383836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231343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AF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readings already in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2770632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D5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developmental pass costs ~£0.40–£0.80 uncached — half our conservative planning figure. Prompt caching cuts input cost a further 90%.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5394960" cy="1645920"/>
          </a:xfrm>
          <a:prstGeom prst="roundRect">
            <a:avLst>
              <a:gd name="adj" fmla="val 4444"/>
            </a:avLst>
          </a:prstGeom>
          <a:solidFill>
            <a:srgbClr val="383836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18795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AF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Margin risk is visible, not hidden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645152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D5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Model-price changes, feature costs, per-user economics — all show up in the ledger within days, not at quarter end.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4023360"/>
            <a:ext cx="5394960" cy="1645920"/>
          </a:xfrm>
          <a:prstGeom prst="roundRect">
            <a:avLst>
              <a:gd name="adj" fmla="val 4444"/>
            </a:avLst>
          </a:prstGeom>
          <a:solidFill>
            <a:srgbClr val="383836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418795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AF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Investor reporting on tap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4645152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D5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COGS at 100 / 1,000 / 10,000 users is a query, not a promise.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4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 economics as instrument readings — the thing seed investors will ask for, running since day zero.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AuthorsLab · Pre-seed 2026 · Confidential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series of finished products, not one unfinished platform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2788920"/>
            <a:ext cx="10515600" cy="0"/>
          </a:xfrm>
          <a:prstGeom prst="line">
            <a:avLst/>
          </a:prstGeom>
          <a:noFill/>
          <a:ln w="25400">
            <a:solidFill>
              <a:srgbClr val="5C7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4944" y="2660904"/>
            <a:ext cx="256032" cy="256032"/>
          </a:xfrm>
          <a:prstGeom prst="ellipse">
            <a:avLst/>
          </a:prstGeom>
          <a:solidFill>
            <a:srgbClr val="D4956A"/>
          </a:solidFill>
          <a:ln/>
        </p:spPr>
      </p:sp>
      <p:sp>
        <p:nvSpPr>
          <p:cNvPr id="5" name="Text 3"/>
          <p:cNvSpPr/>
          <p:nvPr/>
        </p:nvSpPr>
        <p:spPr>
          <a:xfrm>
            <a:off x="-182880" y="2011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-274320" y="3063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Editing studio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-274320" y="34747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LAUNCH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18104" y="2660904"/>
            <a:ext cx="256032" cy="256032"/>
          </a:xfrm>
          <a:prstGeom prst="ellipse">
            <a:avLst/>
          </a:prstGeom>
          <a:solidFill>
            <a:srgbClr val="5C7A6B"/>
          </a:solidFill>
          <a:ln/>
        </p:spPr>
      </p:sp>
      <p:sp>
        <p:nvSpPr>
          <p:cNvPr id="9" name="Text 7"/>
          <p:cNvSpPr/>
          <p:nvPr/>
        </p:nvSpPr>
        <p:spPr>
          <a:xfrm>
            <a:off x="2240280" y="2011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48840" y="3063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Imprint demo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48840" y="34747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track opens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541264" y="2660904"/>
            <a:ext cx="256032" cy="256032"/>
          </a:xfrm>
          <a:prstGeom prst="ellipse">
            <a:avLst/>
          </a:prstGeom>
          <a:solidFill>
            <a:srgbClr val="8FAF8A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2011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2027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0" y="3063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Wright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34747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 collaborator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964424" y="2660904"/>
            <a:ext cx="256032" cy="256032"/>
          </a:xfrm>
          <a:prstGeom prst="ellipse">
            <a:avLst/>
          </a:prstGeom>
          <a:solidFill>
            <a:srgbClr val="8FAF8A"/>
          </a:solidFill>
          <a:ln/>
        </p:spPr>
      </p:sp>
      <p:sp>
        <p:nvSpPr>
          <p:cNvPr id="17" name="Text 15"/>
          <p:cNvSpPr/>
          <p:nvPr/>
        </p:nvSpPr>
        <p:spPr>
          <a:xfrm>
            <a:off x="7086600" y="2011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95160" y="3063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+ Publishing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95160" y="34747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→ publish-ready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387584" y="2660904"/>
            <a:ext cx="256032" cy="256032"/>
          </a:xfrm>
          <a:prstGeom prst="ellipse">
            <a:avLst/>
          </a:prstGeom>
          <a:solidFill>
            <a:srgbClr val="8FAF8A"/>
          </a:solidFill>
          <a:ln/>
        </p:spPr>
      </p:sp>
      <p:sp>
        <p:nvSpPr>
          <p:cNvPr id="21" name="Text 19"/>
          <p:cNvSpPr/>
          <p:nvPr/>
        </p:nvSpPr>
        <p:spPr>
          <a:xfrm>
            <a:off x="9509760" y="2011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2027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418320" y="3063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Marketing Hub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418320" y="34747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journey complete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22960" y="443484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release is a launch beat — its own story, its own press, its own conversion spike.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release raises the new-customer price list while existing subscribers keep their price: early believers are locked in, and the price rises with the platform.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Wright is separately metered — heavy generative drafting never silently erodes tier margins.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AuthorsLab · Pre-seed 2026 · Confidential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motions: a funnel for authors, a doorway for imprints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C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Authors — self-serve funnel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9377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5623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manuscript assessment
</a:t>
            </a:r>
            <a:pPr indent="0" marL="0">
              <a:buNone/>
            </a:pPr>
            <a:r>
              <a:rPr lang="en-US" sz="1050" dirty="0">
                <a:solidFill>
                  <a:srgbClr val="6E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card required — the writer community's favourite word is free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005840" y="283464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90779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Single-project pass £119
</a:t>
            </a:r>
            <a:pPr indent="0" marL="0">
              <a:buNone/>
            </a:pPr>
            <a:r>
              <a:rPr lang="en-US" sz="1050" dirty="0">
                <a:solidFill>
                  <a:srgbClr val="6E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 without subscription — credits toward membership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463040" y="3886200"/>
            <a:ext cx="3108960" cy="914400"/>
          </a:xfrm>
          <a:prstGeom prst="roundRect">
            <a:avLst>
              <a:gd name="adj" fmla="val 6000"/>
            </a:avLst>
          </a:prstGeom>
          <a:solidFill>
            <a:srgbClr val="8FAF8A"/>
          </a:solidFill>
          <a:ln w="12700">
            <a:solidFill>
              <a:srgbClr val="5C7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3959352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£7–£27/mo
</a:t>
            </a:r>
            <a:pPr indent="0" marL="0">
              <a:buNone/>
            </a:pPr>
            <a:r>
              <a:rPr lang="en-US" sz="1050" dirty="0">
                <a:solidFill>
                  <a:srgbClr val="EA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multi-project home for a writing life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512064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tests start this month ($50–100 trial ads, Meta/X) with per-channel CAC measured from day one. Organic: the communities where indie authors already gather.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280160"/>
            <a:ext cx="530352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15087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C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Imprints — B2B doorway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83680" y="2057400"/>
            <a:ext cx="47548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2026: demo to the Executive Publisher of a new London imprint backed by The Blair Partnership — a 20–50 author list.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 collaboration is architected in: publishers join Design, Publishing and Marketing on their authors' books — never the writing space.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spend is proven: small imprints pay £600/mo (Consonance) for editorial SaaS today. Our SKU is priced against that floor.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imprint contract ≈ 25–50 Author-tier subscriptions in revenue — a second axis the model prices at £250–£1,000/mo.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AuthorsLab · Pre-seed 2026 · Confidential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Built, used, and instrumented — before a single ad has run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6974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6916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FAF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77240" y="25146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authors, grandfathered as Founding Authors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56432" y="1463040"/>
            <a:ext cx="26974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39312" y="16916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C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272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685032" y="25146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under active editing across 8 manuscripts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64224" y="1463040"/>
            <a:ext cx="26974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47104" y="16916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4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4,061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592824" y="25146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editor–author chat messages in the live database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272016" y="1463040"/>
            <a:ext cx="26974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454896" y="16916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789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9500616" y="25146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editorial findings filed by the AI team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93192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Stripe billing: three tiers, annual and monthly, one-time pass — catalogue verified in production this week.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launch of the editing studio: this week. Free-assessment funnel opens with it.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story that sells itself: built for one family member's manuscript, grown into a platform. The first test case is a finished 36-chapter fantasy novel.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5943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read live from the production database, 5 August 2026.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AuthorsLab · Pre-seed 2026 · Confidential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model: 36 months, monthly, every line tagged by evidence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66751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498080" y="1371600"/>
            <a:ext cx="411480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680960" y="144475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£32k MRR / 1,573 writers
</a:t>
            </a:r>
            <a:pPr indent="0" marL="0">
              <a:buNone/>
            </a:pPr>
            <a:r>
              <a:rPr lang="en-US" sz="1050" dirty="0">
                <a:solidFill>
                  <a:srgbClr val="6E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month 36 (modelled)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498080" y="2450592"/>
            <a:ext cx="411480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80960" y="2523744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3.3× LTV : CAC
</a:t>
            </a:r>
            <a:pPr indent="0" marL="0">
              <a:buNone/>
            </a:pPr>
            <a:r>
              <a:rPr lang="en-US" sz="1050" dirty="0">
                <a:solidFill>
                  <a:srgbClr val="6E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month 12 on placeholder funnel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498080" y="3529584"/>
            <a:ext cx="411480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80960" y="3602736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55–65% gross margin
</a:t>
            </a:r>
            <a:pPr indent="0" marL="0">
              <a:buNone/>
            </a:pPr>
            <a:r>
              <a:rPr lang="en-US" sz="1050" dirty="0">
                <a:solidFill>
                  <a:srgbClr val="6E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phase, instrument-backed COGS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498080" y="4608576"/>
            <a:ext cx="411480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80960" y="468172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£171 LTV
</a:t>
            </a:r>
            <a:pPr indent="0" marL="0">
              <a:buNone/>
            </a:pPr>
            <a:r>
              <a:rPr lang="en-US" sz="1050" dirty="0">
                <a:solidFill>
                  <a:srgbClr val="6E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writer at month-12 economics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labels: COGS lines are measured (live AI-cost ledger); funnel and churn are assumptions until launch data lands — which starts this month.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AuthorsLab · Pre-seed 2026 · Confidential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645920"/>
            <a:ext cx="1280160" cy="1280160"/>
          </a:xfrm>
          <a:prstGeom prst="ellipse">
            <a:avLst/>
          </a:prstGeom>
          <a:solidFill>
            <a:srgbClr val="5C7A6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4592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31546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Paul Lyons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40690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[Bio placeholder — background, contract management &amp; AI systems leadership, Spike Island Studios]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83680" y="1645920"/>
            <a:ext cx="1280160" cy="1280160"/>
          </a:xfrm>
          <a:prstGeom prst="ellipse">
            <a:avLst/>
          </a:prstGeom>
          <a:solidFill>
            <a:srgbClr val="D4956A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164592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583680" y="31546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Carl [surname]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83680" y="3611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— Commercial &amp; Strategy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40690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[Bio placeholder]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5486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under Spike Island Studios — the venture studio behind CLARENCE (B2B contract negotiation) and AuthorsLab. Bootstrapped to launch.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AuthorsLab · Pre-seed 2026 · Confidential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ask: £350,000 for 18 months of proof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63040"/>
          <a:ext cx="56692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502920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
</a:t>
            </a:r>
            <a:pPr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£250k SEIS (50% investor income-tax relief) + £100k EIS. Advance assurance in progress. 12–15% dilution implies £2.3–2.9m post-money — in line with UK pre-seed norms.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675120" y="14630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C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buys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675120" y="1965960"/>
            <a:ext cx="49377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launch scaled: proven acquisition channels with measured CAC (first data weeks after launch)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product line shipped as staged releases — four launch beats, four price steps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imprint contract live (September conversation already booked)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Ledger-calibrated allowances holding ≥70% flagship gross margin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Seed-ready metrics: repeatable channels, LTV/CAC evidence, B2B revenue axis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AuthorsLab · Pre-seed 2026 · Confidential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C2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01768" y="1188720"/>
            <a:ext cx="685800" cy="685800"/>
          </a:xfrm>
          <a:prstGeom prst="ellipse">
            <a:avLst/>
          </a:prstGeom>
          <a:solidFill>
            <a:srgbClr val="8FAF8A"/>
          </a:solidFill>
          <a:ln/>
        </p:spPr>
      </p:sp>
      <p:sp>
        <p:nvSpPr>
          <p:cNvPr id="3" name="Text 1"/>
          <p:cNvSpPr/>
          <p:nvPr/>
        </p:nvSpPr>
        <p:spPr>
          <a:xfrm>
            <a:off x="5001768" y="1188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870448" y="1188720"/>
            <a:ext cx="685800" cy="685800"/>
          </a:xfrm>
          <a:prstGeom prst="ellipse">
            <a:avLst/>
          </a:prstGeom>
          <a:solidFill>
            <a:srgbClr val="5C7A6B"/>
          </a:solidFill>
          <a:ln/>
        </p:spPr>
      </p:sp>
      <p:sp>
        <p:nvSpPr>
          <p:cNvPr id="5" name="Text 3"/>
          <p:cNvSpPr/>
          <p:nvPr/>
        </p:nvSpPr>
        <p:spPr>
          <a:xfrm>
            <a:off x="5870448" y="1188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739128" y="1188720"/>
            <a:ext cx="685800" cy="685800"/>
          </a:xfrm>
          <a:prstGeom prst="ellipse">
            <a:avLst/>
          </a:prstGeom>
          <a:solidFill>
            <a:srgbClr val="D4956A"/>
          </a:solidFill>
          <a:ln/>
        </p:spPr>
      </p:sp>
      <p:sp>
        <p:nvSpPr>
          <p:cNvPr id="7" name="Text 5"/>
          <p:cNvSpPr/>
          <p:nvPr/>
        </p:nvSpPr>
        <p:spPr>
          <a:xfrm>
            <a:off x="6739128" y="1188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10360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FAF8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Writing is a lonely profession.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914400" y="3063240"/>
            <a:ext cx="10360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FAF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We're building the team every author deserves.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 Lyons · paul.lyons@authorslab.ai · authorslab.ai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2026-08-06T03:04:47Z</dcterms:created>
  <dcterms:modified xsi:type="dcterms:W3CDTF">2026-08-06T03:04:47Z</dcterms:modified>
</cp:coreProperties>
</file>