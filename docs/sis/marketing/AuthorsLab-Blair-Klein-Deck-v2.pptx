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thesis. The books on the right are illustrative covers made in the AuthorsLab design language.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five-stage frame mirrors the product roster shown later — same colours, same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Carbon and Silicon — the manifesto's frame, spoken plainly.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manifesto beat. The margin note previews what the product feels like before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Credibility beat: Clarence (legal AI) proves we know where determinism matters — and where it doesn't.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to the live product here. Editing studio (Alex, Sam, Jordan) is live today; Wright, Design, Publishing and Marketing are staged releases — say it plainly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Blair/Klein slide. Sacred vs shared-by-invitation is the trust story: the publisher sees the pipeline, never the writing, unless invited.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rights journey — the Blair Partnership's home ground. Leave the question open; it is the conversation starter.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502920"/>
            <a:ext cx="457200" cy="457200"/>
          </a:xfrm>
          <a:prstGeom prst="ellipse">
            <a:avLst/>
          </a:prstGeom>
          <a:solidFill>
            <a:srgbClr val="5C7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70432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AuthorsLab</a:t>
            </a:r>
            <a:endParaRPr lang="en-US" sz="1900" dirty="0"/>
          </a:p>
        </p:txBody>
      </p:sp>
      <p:pic>
        <p:nvPicPr>
          <p:cNvPr id="4" name="Image 0" descr="/home/claude/mkt/covers/the-orchard-at-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240000">
            <a:off x="7269480" y="2148840"/>
            <a:ext cx="1828800" cy="2660904"/>
          </a:xfrm>
          <a:prstGeom prst="rect">
            <a:avLst/>
          </a:prstGeom>
        </p:spPr>
      </p:pic>
      <p:pic>
        <p:nvPicPr>
          <p:cNvPr id="5" name="Image 1" descr="/home/claude/mkt/covers/a-field-guide-to-leav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360000">
            <a:off x="9646920" y="2560320"/>
            <a:ext cx="1645920" cy="2395728"/>
          </a:xfrm>
          <a:prstGeom prst="rect">
            <a:avLst/>
          </a:prstGeom>
        </p:spPr>
      </p:pic>
      <p:pic>
        <p:nvPicPr>
          <p:cNvPr id="6" name="Image 2" descr="/home/claude/mkt/covers/the-ninth-lante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783080"/>
            <a:ext cx="2103120" cy="306324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640080" y="2331720"/>
            <a:ext cx="6309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700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future of publishing
</a:t>
            </a:r>
            <a:pPr indent="0" marL="0">
              <a:lnSpc>
                <a:spcPct val="112000"/>
              </a:lnSpc>
              <a:buNone/>
            </a:pPr>
            <a:r>
              <a:rPr lang="en-US" sz="3700" i="1" dirty="0">
                <a:solidFill>
                  <a:srgbClr val="8FAF8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still begins with a human being.</a:t>
            </a:r>
            <a:endParaRPr lang="en-US" sz="3700" dirty="0"/>
          </a:p>
        </p:txBody>
      </p:sp>
      <p:sp>
        <p:nvSpPr>
          <p:cNvPr id="8" name="Text 3"/>
          <p:cNvSpPr txBox="1"/>
          <p:nvPr/>
        </p:nvSpPr>
        <p:spPr>
          <a:xfrm>
            <a:off x="658368" y="44348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B5A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environment for human creativity, intelligent collaboration and the development of books.</a:t>
            </a:r>
            <a:endParaRPr lang="en-US" sz="1450" dirty="0"/>
          </a:p>
        </p:txBody>
      </p:sp>
      <p:sp>
        <p:nvSpPr>
          <p:cNvPr id="9" name="Text 4"/>
          <p:cNvSpPr txBox="1"/>
          <p:nvPr/>
        </p:nvSpPr>
        <p:spPr>
          <a:xfrm>
            <a:off x="658368" y="6172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A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· A SPIKE ISLAND STUDIOS COMPANY · 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C2C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Writing a book is a creative act. </a:t>
            </a:r>
            <a:pPr indent="0" marL="0">
              <a:buNone/>
            </a:pPr>
            <a:r>
              <a:rPr lang="en-US" sz="2900" i="1" dirty="0">
                <a:solidFill>
                  <a:srgbClr val="5C7A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Building a book is a process.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2048256" cy="2286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5400000">
              <a:srgbClr val="2C2C2A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96112" y="2103120"/>
            <a:ext cx="402336" cy="402336"/>
          </a:xfrm>
          <a:prstGeom prst="ellipse">
            <a:avLst/>
          </a:prstGeom>
          <a:solidFill>
            <a:srgbClr val="2C2C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144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3017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and shaping the story.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71216" y="1828800"/>
            <a:ext cx="2048256" cy="2286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5400000">
              <a:srgbClr val="2C2C2A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127248" y="2103120"/>
            <a:ext cx="402336" cy="402336"/>
          </a:xfrm>
          <a:prstGeom prst="ellipse">
            <a:avLst/>
          </a:prstGeom>
          <a:solidFill>
            <a:srgbClr val="5C7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</a:t>
            </a:r>
            <a:endParaRPr lang="en-US" sz="1144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127248" y="3017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manuscript work.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102352" y="1828800"/>
            <a:ext cx="2048256" cy="2286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5400000">
              <a:srgbClr val="2C2C2A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358384" y="2103120"/>
            <a:ext cx="402336" cy="402336"/>
          </a:xfrm>
          <a:prstGeom prst="ellipse">
            <a:avLst/>
          </a:prstGeom>
          <a:solidFill>
            <a:srgbClr val="BC94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</a:t>
            </a:r>
            <a:endParaRPr lang="en-US" sz="1144" dirty="0"/>
          </a:p>
        </p:txBody>
      </p:sp>
      <p:sp>
        <p:nvSpPr>
          <p:cNvPr id="13" name="Text 11"/>
          <p:cNvSpPr txBox="1"/>
          <p:nvPr/>
        </p:nvSpPr>
        <p:spPr>
          <a:xfrm>
            <a:off x="5358384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358384" y="3017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the manuscript into a book.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33488" y="1828800"/>
            <a:ext cx="2048256" cy="2286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5400000">
              <a:srgbClr val="2C2C2A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589520" y="2103120"/>
            <a:ext cx="402336" cy="402336"/>
          </a:xfrm>
          <a:prstGeom prst="ellipse">
            <a:avLst/>
          </a:prstGeom>
          <a:solidFill>
            <a:srgbClr val="8E4A7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</a:t>
            </a:r>
            <a:endParaRPr lang="en-US" sz="1144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3017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it into the world.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564624" y="1828800"/>
            <a:ext cx="2048256" cy="22860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01600" dist="38100" dir="5400000">
              <a:srgbClr val="2C2C2A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820656" y="2103120"/>
            <a:ext cx="402336" cy="402336"/>
          </a:xfrm>
          <a:prstGeom prst="ellipse">
            <a:avLst/>
          </a:prstGeom>
          <a:solidFill>
            <a:srgbClr val="84500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</a:t>
            </a:r>
            <a:endParaRPr lang="en-US" sz="1144" dirty="0"/>
          </a:p>
        </p:txBody>
      </p:sp>
      <p:sp>
        <p:nvSpPr>
          <p:cNvPr id="21" name="Text 19"/>
          <p:cNvSpPr txBox="1"/>
          <p:nvPr/>
        </p:nvSpPr>
        <p:spPr>
          <a:xfrm>
            <a:off x="9820656" y="2697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9820656" y="3017520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its readers.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463040" y="4709160"/>
            <a:ext cx="9235440" cy="1417320"/>
          </a:xfrm>
          <a:prstGeom prst="roundRect">
            <a:avLst>
              <a:gd name="adj" fmla="val 6452"/>
            </a:avLst>
          </a:prstGeom>
          <a:solidFill>
            <a:srgbClr val="EFF4E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874520" y="4956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300" kern="0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STARTED WITH A SIMPLE QUESTION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874520" y="5230368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50" dirty="0">
                <a:solidFill>
                  <a:srgbClr val="2C2C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Could technology make more of this expertise accessible to authors — without taking authorship away from them?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dirty="0">
                <a:solidFill>
                  <a:srgbClr val="2C2C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question isn’t whether AI belongs in creativity.
</a:t>
            </a:r>
            <a:pPr indent="0" marL="0">
              <a:lnSpc>
                <a:spcPct val="112000"/>
              </a:lnSpc>
              <a:buNone/>
            </a:pPr>
            <a:r>
              <a:rPr lang="en-US" sz="2700" i="1" dirty="0">
                <a:solidFill>
                  <a:srgbClr val="5C7A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It’s what role we give it.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005840" y="214884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2C2C2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8FA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7889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29400" y="2148840"/>
            <a:ext cx="4572000" cy="3291840"/>
          </a:xfrm>
          <a:prstGeom prst="roundRect">
            <a:avLst>
              <a:gd name="adj" fmla="val 3333"/>
            </a:avLst>
          </a:prstGeom>
          <a:solidFill>
            <a:srgbClr val="EFF4EE"/>
          </a:solidFill>
          <a:ln w="12700">
            <a:solidFill>
              <a:srgbClr val="DCE7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0" y="24231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278892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C7A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interesting space is between the two.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300" dirty="0">
                <a:solidFill>
                  <a:srgbClr val="2C2C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words aren’t the thought.</a:t>
            </a:r>
            <a:endParaRPr lang="en-US" sz="3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9659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is a medium of self-expression — a way of finding words capable of giving form to something that exists before the words.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20040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brings the thought, experience, imagination and voice.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helps explore the distance between what the author means and what they have written.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51206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5C7A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The author remains the author.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 rot="21480000">
            <a:off x="6492240" y="1554480"/>
            <a:ext cx="42062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E8E2D8"/>
            </a:solidFill>
            <a:prstDash val="solid"/>
          </a:ln>
          <a:effectLst>
            <a:outerShdw sx="100000" sy="100000" kx="0" ky="0" algn="bl" rotWithShape="0" blurRad="152400" dist="63500" dir="5400000">
              <a:srgbClr val="2C2C2A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949440" y="2057400"/>
            <a:ext cx="3291840" cy="146304"/>
          </a:xfrm>
          <a:prstGeom prst="roundRect">
            <a:avLst>
              <a:gd name="adj" fmla="val 50000"/>
            </a:avLst>
          </a:prstGeom>
          <a:solidFill>
            <a:srgbClr val="E7E3DB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0" y="2514600"/>
            <a:ext cx="3017520" cy="146304"/>
          </a:xfrm>
          <a:prstGeom prst="roundRect">
            <a:avLst>
              <a:gd name="adj" fmla="val 50000"/>
            </a:avLst>
          </a:prstGeom>
          <a:solidFill>
            <a:srgbClr val="E7E3DB"/>
          </a:solidFill>
          <a:ln/>
        </p:spPr>
      </p:sp>
      <p:sp>
        <p:nvSpPr>
          <p:cNvPr id="9" name="Shape 7"/>
          <p:cNvSpPr/>
          <p:nvPr/>
        </p:nvSpPr>
        <p:spPr>
          <a:xfrm>
            <a:off x="6949440" y="2971800"/>
            <a:ext cx="3154680" cy="146304"/>
          </a:xfrm>
          <a:prstGeom prst="roundRect">
            <a:avLst>
              <a:gd name="adj" fmla="val 50000"/>
            </a:avLst>
          </a:prstGeom>
          <a:solidFill>
            <a:srgbClr val="E7E3DB"/>
          </a:solidFill>
          <a:ln/>
        </p:spPr>
      </p:sp>
      <p:sp>
        <p:nvSpPr>
          <p:cNvPr id="10" name="Shape 8"/>
          <p:cNvSpPr/>
          <p:nvPr/>
        </p:nvSpPr>
        <p:spPr>
          <a:xfrm>
            <a:off x="6949440" y="3429000"/>
            <a:ext cx="3291840" cy="146304"/>
          </a:xfrm>
          <a:prstGeom prst="roundRect">
            <a:avLst>
              <a:gd name="adj" fmla="val 50000"/>
            </a:avLst>
          </a:prstGeom>
          <a:solidFill>
            <a:srgbClr val="E7E3DB"/>
          </a:solidFill>
          <a:ln/>
        </p:spPr>
      </p:sp>
      <p:sp>
        <p:nvSpPr>
          <p:cNvPr id="11" name="Shape 9"/>
          <p:cNvSpPr/>
          <p:nvPr/>
        </p:nvSpPr>
        <p:spPr>
          <a:xfrm>
            <a:off x="6949440" y="3886200"/>
            <a:ext cx="2926080" cy="146304"/>
          </a:xfrm>
          <a:prstGeom prst="roundRect">
            <a:avLst>
              <a:gd name="adj" fmla="val 50000"/>
            </a:avLst>
          </a:prstGeom>
          <a:solidFill>
            <a:srgbClr val="E7E3DB"/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4343400"/>
            <a:ext cx="1920240" cy="146304"/>
          </a:xfrm>
          <a:prstGeom prst="roundRect">
            <a:avLst>
              <a:gd name="adj" fmla="val 50000"/>
            </a:avLst>
          </a:prstGeom>
          <a:solidFill>
            <a:srgbClr val="E7E3DB"/>
          </a:solidFill>
          <a:ln/>
        </p:spPr>
      </p:sp>
      <p:sp>
        <p:nvSpPr>
          <p:cNvPr id="13" name="Shape 11"/>
          <p:cNvSpPr/>
          <p:nvPr/>
        </p:nvSpPr>
        <p:spPr>
          <a:xfrm>
            <a:off x="7223760" y="3054096"/>
            <a:ext cx="2011680" cy="41148"/>
          </a:xfrm>
          <a:prstGeom prst="roundRect">
            <a:avLst>
              <a:gd name="adj" fmla="val 44444"/>
            </a:avLst>
          </a:prstGeom>
          <a:solidFill>
            <a:srgbClr val="8FAF8A"/>
          </a:solidFill>
          <a:ln/>
        </p:spPr>
      </p:sp>
      <p:sp>
        <p:nvSpPr>
          <p:cNvPr id="14" name="Shape 12"/>
          <p:cNvSpPr/>
          <p:nvPr/>
        </p:nvSpPr>
        <p:spPr>
          <a:xfrm rot="120000">
            <a:off x="9464040" y="3977640"/>
            <a:ext cx="2148840" cy="1600200"/>
          </a:xfrm>
          <a:prstGeom prst="roundRect">
            <a:avLst>
              <a:gd name="adj" fmla="val 5714"/>
            </a:avLst>
          </a:prstGeom>
          <a:solidFill>
            <a:srgbClr val="FAF8F4"/>
          </a:solidFill>
          <a:ln w="19050">
            <a:solidFill>
              <a:srgbClr val="D4956A"/>
            </a:solidFill>
            <a:prstDash val="solid"/>
          </a:ln>
          <a:effectLst>
            <a:outerShdw sx="100000" sy="100000" kx="0" ky="0" algn="bl" rotWithShape="0" blurRad="101600" dist="38100" dir="5400000">
              <a:srgbClr val="2C2C2A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 rot="120000">
            <a:off x="9601200" y="41148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2C2C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“Is this where your story truly begins?”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 rot="120000">
            <a:off x="9601200" y="5120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· First read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C2C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AI architecture matters.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34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problems require different relationships with AI.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920240"/>
            <a:ext cx="4572000" cy="3200400"/>
          </a:xfrm>
          <a:prstGeom prst="roundRect">
            <a:avLst>
              <a:gd name="adj" fmla="val 3429"/>
            </a:avLst>
          </a:prstGeom>
          <a:solidFill>
            <a:srgbClr val="2C2C2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17320" y="2194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C9D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— CLARENCE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6060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29400" y="1920240"/>
            <a:ext cx="4572000" cy="3200400"/>
          </a:xfrm>
          <a:prstGeom prst="roundRect">
            <a:avLst>
              <a:gd name="adj" fmla="val 3429"/>
            </a:avLst>
          </a:prstGeom>
          <a:solidFill>
            <a:srgbClr val="EFF4EE"/>
          </a:solidFill>
          <a:ln w="12700">
            <a:solidFill>
              <a:srgbClr val="DCE7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0" y="219456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— AUTHORSLAB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606040"/>
            <a:ext cx="3657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Ambiguity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Possibility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48640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experience building Clarence taught us to ask a more useful question:
</a:t>
            </a:r>
            <a:pPr algn="ctr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2C2C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Where should AI be used — and where should the human remain in control?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C2C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From idea to book.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34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editor at every stage of the journey.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3000" y="2724912"/>
            <a:ext cx="9921240" cy="27432"/>
          </a:xfrm>
          <a:prstGeom prst="roundRect">
            <a:avLst>
              <a:gd name="adj" fmla="val 33333"/>
            </a:avLst>
          </a:prstGeom>
          <a:solidFill>
            <a:srgbClr val="8FAF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450592"/>
            <a:ext cx="566928" cy="566928"/>
          </a:xfrm>
          <a:prstGeom prst="ellipse">
            <a:avLst/>
          </a:prstGeom>
          <a:solidFill>
            <a:srgbClr val="2C2C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</a:t>
            </a:r>
            <a:endParaRPr lang="en-US" sz="1612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32004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Wright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35204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from a blank page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450592" y="2450592"/>
            <a:ext cx="566928" cy="566928"/>
          </a:xfrm>
          <a:prstGeom prst="ellipse">
            <a:avLst/>
          </a:prstGeom>
          <a:solidFill>
            <a:srgbClr val="8FAF8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612" dirty="0"/>
          </a:p>
        </p:txBody>
      </p:sp>
      <p:sp>
        <p:nvSpPr>
          <p:cNvPr id="9" name="Text 7"/>
          <p:cNvSpPr txBox="1"/>
          <p:nvPr/>
        </p:nvSpPr>
        <p:spPr>
          <a:xfrm>
            <a:off x="1947672" y="32004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901952" y="35204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Developmental editor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032504" y="2450592"/>
            <a:ext cx="566928" cy="566928"/>
          </a:xfrm>
          <a:prstGeom prst="ellipse">
            <a:avLst/>
          </a:prstGeom>
          <a:solidFill>
            <a:srgbClr val="D4956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</a:t>
            </a:r>
            <a:endParaRPr lang="en-US" sz="1612" dirty="0"/>
          </a:p>
        </p:txBody>
      </p:sp>
      <p:sp>
        <p:nvSpPr>
          <p:cNvPr id="12" name="Text 10"/>
          <p:cNvSpPr txBox="1"/>
          <p:nvPr/>
        </p:nvSpPr>
        <p:spPr>
          <a:xfrm>
            <a:off x="3529584" y="32004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35204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editor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614416" y="2450592"/>
            <a:ext cx="566928" cy="566928"/>
          </a:xfrm>
          <a:prstGeom prst="ellipse">
            <a:avLst/>
          </a:prstGeom>
          <a:solidFill>
            <a:srgbClr val="5C7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J</a:t>
            </a:r>
            <a:endParaRPr lang="en-US" sz="1612" dirty="0"/>
          </a:p>
        </p:txBody>
      </p:sp>
      <p:sp>
        <p:nvSpPr>
          <p:cNvPr id="15" name="Text 13"/>
          <p:cNvSpPr txBox="1"/>
          <p:nvPr/>
        </p:nvSpPr>
        <p:spPr>
          <a:xfrm>
            <a:off x="5111496" y="32004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065776" y="35204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editor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196328" y="2450592"/>
            <a:ext cx="566928" cy="566928"/>
          </a:xfrm>
          <a:prstGeom prst="ellipse">
            <a:avLst/>
          </a:prstGeom>
          <a:solidFill>
            <a:srgbClr val="BC944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</a:t>
            </a:r>
            <a:endParaRPr lang="en-US" sz="1612" dirty="0"/>
          </a:p>
        </p:txBody>
      </p:sp>
      <p:sp>
        <p:nvSpPr>
          <p:cNvPr id="18" name="Text 16"/>
          <p:cNvSpPr txBox="1"/>
          <p:nvPr/>
        </p:nvSpPr>
        <p:spPr>
          <a:xfrm>
            <a:off x="6693408" y="32004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647688" y="35204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778240" y="2450592"/>
            <a:ext cx="566928" cy="566928"/>
          </a:xfrm>
          <a:prstGeom prst="ellipse">
            <a:avLst/>
          </a:prstGeom>
          <a:solidFill>
            <a:srgbClr val="8E4A7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</a:t>
            </a:r>
            <a:endParaRPr lang="en-US" sz="1612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2004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35204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360152" y="2450592"/>
            <a:ext cx="566928" cy="566928"/>
          </a:xfrm>
          <a:prstGeom prst="ellipse">
            <a:avLst/>
          </a:prstGeom>
          <a:solidFill>
            <a:srgbClr val="84500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</a:t>
            </a:r>
            <a:endParaRPr lang="en-US" sz="1612" dirty="0"/>
          </a:p>
        </p:txBody>
      </p:sp>
      <p:sp>
        <p:nvSpPr>
          <p:cNvPr id="24" name="Text 22"/>
          <p:cNvSpPr txBox="1"/>
          <p:nvPr/>
        </p:nvSpPr>
        <p:spPr>
          <a:xfrm>
            <a:off x="9857232" y="320040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Riley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811512" y="3520440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B5A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· Explore · Research · Develop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480060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2C2C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 environment designed around the lifecycle of a book — not simply a text-generation tool.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093208" y="5623560"/>
            <a:ext cx="2011680" cy="566928"/>
          </a:xfrm>
          <a:prstGeom prst="roundRect">
            <a:avLst>
              <a:gd name="adj" fmla="val 50000"/>
            </a:avLst>
          </a:prstGeom>
          <a:solidFill>
            <a:srgbClr val="5C7A6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93208" y="56235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→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2C2C2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One platform. Two perspectives.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34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5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architecture can serve the author and the publisher.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192024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EFF4EE"/>
          </a:solidFill>
          <a:ln w="12700">
            <a:solidFill>
              <a:srgbClr val="DCE7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17320" y="2176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5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4871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Private — the author’s space, always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97180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Ideas, research and brainstorming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development with Wright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collaboration — Alex, Sam, Jordan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creative companion that remembers the book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1920240"/>
            <a:ext cx="4572000" cy="3657600"/>
          </a:xfrm>
          <a:prstGeom prst="roundRect">
            <a:avLst>
              <a:gd name="adj" fmla="val 3000"/>
            </a:avLst>
          </a:prstGeom>
          <a:solidFill>
            <a:srgbClr val="F3EAF0"/>
          </a:solidFill>
          <a:ln w="12700">
            <a:solidFill>
              <a:srgbClr val="E3D3D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40880" y="21762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300" kern="0" dirty="0">
                <a:solidFill>
                  <a:srgbClr val="6E3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PUBLISHER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4871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3757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Shared by invitation — never inside the writing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971800"/>
            <a:ext cx="3886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authors, multiple projects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Editorial workflow and project visibility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publishing and marketing pipeline</a:t>
            </a:r>
            <a:endParaRPr lang="en-US" sz="1300" dirty="0"/>
          </a:p>
          <a:p>
            <a:pPr marL="177800" indent="-177800">
              <a:lnSpc>
                <a:spcPct val="11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3A3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 the author opens — and can close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59436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5C7A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One architecture. Different perspectives.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 book is not necessarily the end of the story.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85800" y="2286000"/>
            <a:ext cx="1572768" cy="603504"/>
          </a:xfrm>
          <a:prstGeom prst="roundRect">
            <a:avLst>
              <a:gd name="adj" fmla="val 50000"/>
            </a:avLst>
          </a:prstGeom>
          <a:solidFill>
            <a:srgbClr val="383836"/>
          </a:solidFill>
          <a:ln w="12700">
            <a:solidFill>
              <a:srgbClr val="4A4A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228600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2240280" y="22860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2286000"/>
            <a:ext cx="1572768" cy="603504"/>
          </a:xfrm>
          <a:prstGeom prst="roundRect">
            <a:avLst>
              <a:gd name="adj" fmla="val 50000"/>
            </a:avLst>
          </a:prstGeom>
          <a:solidFill>
            <a:srgbClr val="383836"/>
          </a:solidFill>
          <a:ln w="12700">
            <a:solidFill>
              <a:srgbClr val="4A4A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228600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114800" y="22860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34840" y="2286000"/>
            <a:ext cx="1572768" cy="603504"/>
          </a:xfrm>
          <a:prstGeom prst="roundRect">
            <a:avLst>
              <a:gd name="adj" fmla="val 50000"/>
            </a:avLst>
          </a:prstGeom>
          <a:solidFill>
            <a:srgbClr val="383836"/>
          </a:solidFill>
          <a:ln w="12700">
            <a:solidFill>
              <a:srgbClr val="4A4A4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34840" y="228600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2860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286000"/>
            <a:ext cx="1572768" cy="603504"/>
          </a:xfrm>
          <a:prstGeom prst="roundRect">
            <a:avLst>
              <a:gd name="adj" fmla="val 50000"/>
            </a:avLst>
          </a:prstGeom>
          <a:solidFill>
            <a:srgbClr val="383836"/>
          </a:solidFill>
          <a:ln w="12700">
            <a:solidFill>
              <a:srgbClr val="4A4A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228600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2860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83880" y="2286000"/>
            <a:ext cx="1572768" cy="603504"/>
          </a:xfrm>
          <a:prstGeom prst="roundRect">
            <a:avLst>
              <a:gd name="adj" fmla="val 50000"/>
            </a:avLst>
          </a:prstGeom>
          <a:solidFill>
            <a:srgbClr val="383836"/>
          </a:solidFill>
          <a:ln w="12700">
            <a:solidFill>
              <a:srgbClr val="4A4A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228600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0E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738360" y="22860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6B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058400" y="2286000"/>
            <a:ext cx="1572768" cy="603504"/>
          </a:xfrm>
          <a:prstGeom prst="roundRect">
            <a:avLst>
              <a:gd name="adj" fmla="val 50000"/>
            </a:avLst>
          </a:prstGeom>
          <a:solidFill>
            <a:srgbClr val="5C7A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0058400" y="2286000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749040"/>
            <a:ext cx="9235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300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What happens when the environment around the author becomes connected to the wider life of the story?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120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5AF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 is beginning to explore that wider journey.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02452" y="5897880"/>
            <a:ext cx="384048" cy="384048"/>
          </a:xfrm>
          <a:prstGeom prst="ellipse">
            <a:avLst/>
          </a:prstGeom>
          <a:solidFill>
            <a:srgbClr val="5C7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FAF8F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1092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6355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9A95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authorslab.ai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2026-09-23T02:51:53Z</dcterms:created>
  <dcterms:modified xsi:type="dcterms:W3CDTF">2026-09-23T02:51:53Z</dcterms:modified>
</cp:coreProperties>
</file>